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 b="1"/>
            </a:pPr>
            <a:r>
              <a:t>CSAT % by route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8A8078"/>
            </a:solidFill>
          </c:spPr>
          <c:dPt>
            <c:idx val="7"/>
            <c:spPr>
              <a:solidFill>
                <a:srgbClr val="B03A2E"/>
              </a:solidFill>
            </c:spPr>
          </c:dPt>
          <c:cat>
            <c:strRef>
              <c:f>Sheet1!$A$2:$A$9</c:f>
              <c:strCache>
                <c:ptCount val="8"/>
                <c:pt idx="0">
                  <c:v>DOH-LAX</c:v>
                </c:pt>
                <c:pt idx="1">
                  <c:v>DOH-FRA</c:v>
                </c:pt>
                <c:pt idx="2">
                  <c:v>DOH-SIN</c:v>
                </c:pt>
                <c:pt idx="3">
                  <c:v>DOH-BKK</c:v>
                </c:pt>
                <c:pt idx="4">
                  <c:v>DOH-DXB</c:v>
                </c:pt>
                <c:pt idx="5">
                  <c:v>DOH-JFK</c:v>
                </c:pt>
                <c:pt idx="6">
                  <c:v>DOH-LHR</c:v>
                </c:pt>
                <c:pt idx="7">
                  <c:v>DOH-CDG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81.0</c:v>
                </c:pt>
                <c:pt idx="1">
                  <c:v>77.1</c:v>
                </c:pt>
                <c:pt idx="2">
                  <c:v>73.2</c:v>
                </c:pt>
                <c:pt idx="3">
                  <c:v>67.3</c:v>
                </c:pt>
                <c:pt idx="4">
                  <c:v>67.1</c:v>
                </c:pt>
                <c:pt idx="5">
                  <c:v>66.1</c:v>
                </c:pt>
                <c:pt idx="6">
                  <c:v>66.0</c:v>
                </c:pt>
                <c:pt idx="7">
                  <c:v>57.4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 b="1"/>
            </a:pPr>
            <a:r>
              <a:t>NPS by route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8A8078"/>
            </a:solidFill>
          </c:spPr>
          <c:dPt>
            <c:idx val="5"/>
            <c:spPr>
              <a:solidFill>
                <a:srgbClr val="B03A2E"/>
              </a:solidFill>
            </c:spPr>
          </c:dPt>
          <c:dPt>
            <c:idx val="6"/>
            <c:spPr>
              <a:solidFill>
                <a:srgbClr val="B03A2E"/>
              </a:solidFill>
            </c:spPr>
          </c:dPt>
          <c:dPt>
            <c:idx val="7"/>
            <c:spPr>
              <a:solidFill>
                <a:srgbClr val="B03A2E"/>
              </a:solidFill>
            </c:spPr>
          </c:dPt>
          <c:cat>
            <c:strRef>
              <c:f>Sheet1!$A$2:$A$9</c:f>
              <c:strCache>
                <c:ptCount val="8"/>
                <c:pt idx="0">
                  <c:v>DOH-DXB</c:v>
                </c:pt>
                <c:pt idx="1">
                  <c:v>DOH-FRA</c:v>
                </c:pt>
                <c:pt idx="2">
                  <c:v>DOH-LAX</c:v>
                </c:pt>
                <c:pt idx="3">
                  <c:v>DOH-SIN</c:v>
                </c:pt>
                <c:pt idx="4">
                  <c:v>DOH-BKK</c:v>
                </c:pt>
                <c:pt idx="5">
                  <c:v>DOH-JFK</c:v>
                </c:pt>
                <c:pt idx="6">
                  <c:v>DOH-LHR</c:v>
                </c:pt>
                <c:pt idx="7">
                  <c:v>DOH-CDG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14.5</c:v>
                </c:pt>
                <c:pt idx="1">
                  <c:v>12.9</c:v>
                </c:pt>
                <c:pt idx="2">
                  <c:v>9.5</c:v>
                </c:pt>
                <c:pt idx="3">
                  <c:v>5.3</c:v>
                </c:pt>
                <c:pt idx="4">
                  <c:v>4.0</c:v>
                </c:pt>
                <c:pt idx="5">
                  <c:v>-1.6</c:v>
                </c:pt>
                <c:pt idx="6">
                  <c:v>-4.3</c:v>
                </c:pt>
                <c:pt idx="7">
                  <c:v>-5.1</c:v>
                </c:pt>
              </c:numCache>
            </c:numRef>
          </c:val>
        </c:ser>
        <c:dLbls>
          <c:numFmt formatCode="+0.0;-0.0" sourceLinked="0"/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CSAT %</c:v>
                </c:pt>
              </c:strCache>
            </c:strRef>
          </c:tx>
          <c:spPr>
            <a:solidFill>
              <a:srgbClr val="8A8078"/>
            </a:solidFill>
          </c:spPr>
          <c:cat>
            <c:strRef>
              <c:f>Sheet1!$A$2:$A$4</c:f>
              <c:strCache>
                <c:ptCount val="3"/>
                <c:pt idx="0">
                  <c:v>First</c:v>
                </c:pt>
                <c:pt idx="1">
                  <c:v>Economy</c:v>
                </c:pt>
                <c:pt idx="2">
                  <c:v>Business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72.7</c:v>
                </c:pt>
                <c:pt idx="1">
                  <c:v>69.6</c:v>
                </c:pt>
                <c:pt idx="2">
                  <c:v>69.3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NPS</c:v>
                </c:pt>
              </c:strCache>
            </c:strRef>
          </c:tx>
          <c:spPr>
            <a:solidFill>
              <a:srgbClr val="5C0632"/>
            </a:solidFill>
          </c:spPr>
          <c:cat>
            <c:strRef>
              <c:f>Sheet1!$A$2:$A$4</c:f>
              <c:strCache>
                <c:ptCount val="3"/>
                <c:pt idx="0">
                  <c:v>First</c:v>
                </c:pt>
                <c:pt idx="1">
                  <c:v>Economy</c:v>
                </c:pt>
                <c:pt idx="2">
                  <c:v>Business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27.3</c:v>
                </c:pt>
                <c:pt idx="1">
                  <c:v>7.7</c:v>
                </c:pt>
                <c:pt idx="2">
                  <c:v>-6.5</c:v>
                </c:pt>
              </c:numCache>
            </c:numRef>
          </c:val>
        </c:ser>
        <c:dLbls>
          <c:numFmt formatCode="0.0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 b="1"/>
            </a:pPr>
            <a:r>
              <a:t>CSAT % by issue type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8A8078"/>
            </a:solidFill>
          </c:spPr>
          <c:dPt>
            <c:idx val="0"/>
            <c:spPr>
              <a:solidFill>
                <a:srgbClr val="B03A2E"/>
              </a:solidFill>
            </c:spPr>
          </c:dPt>
          <c:dPt>
            <c:idx val="1"/>
            <c:spPr>
              <a:solidFill>
                <a:srgbClr val="B03A2E"/>
              </a:solidFill>
            </c:spPr>
          </c:dPt>
          <c:cat>
            <c:strRef>
              <c:f>Sheet1!$A$2:$A$9</c:f>
              <c:strCache>
                <c:ptCount val="8"/>
                <c:pt idx="0">
                  <c:v>Refund</c:v>
                </c:pt>
                <c:pt idx="1">
                  <c:v>Check-in</c:v>
                </c:pt>
                <c:pt idx="2">
                  <c:v>Baggage Delay</c:v>
                </c:pt>
                <c:pt idx="3">
                  <c:v>Staff Behaviour</c:v>
                </c:pt>
                <c:pt idx="4">
                  <c:v>Food &amp; Beverage</c:v>
                </c:pt>
                <c:pt idx="5">
                  <c:v>Lounge Access</c:v>
                </c:pt>
                <c:pt idx="6">
                  <c:v>Seat/Comfort</c:v>
                </c:pt>
                <c:pt idx="7">
                  <c:v>IFE System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63.9</c:v>
                </c:pt>
                <c:pt idx="1">
                  <c:v>64.2</c:v>
                </c:pt>
                <c:pt idx="2">
                  <c:v>69.4</c:v>
                </c:pt>
                <c:pt idx="3">
                  <c:v>70.2</c:v>
                </c:pt>
                <c:pt idx="4">
                  <c:v>70.8</c:v>
                </c:pt>
                <c:pt idx="5">
                  <c:v>73.6</c:v>
                </c:pt>
                <c:pt idx="6">
                  <c:v>73.8</c:v>
                </c:pt>
                <c:pt idx="7">
                  <c:v>74.0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 b="1"/>
            </a:pPr>
            <a:r>
              <a:t>First-contact resolution % by complaint type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8A8078"/>
            </a:solidFill>
          </c:spPr>
          <c:dPt>
            <c:idx val="0"/>
            <c:spPr>
              <a:solidFill>
                <a:srgbClr val="B03A2E"/>
              </a:solidFill>
            </c:spPr>
          </c:dPt>
          <c:cat>
            <c:strRef>
              <c:f>Sheet1!$A$2:$A$9</c:f>
              <c:strCache>
                <c:ptCount val="8"/>
                <c:pt idx="0">
                  <c:v>Lounge Access</c:v>
                </c:pt>
                <c:pt idx="1">
                  <c:v>Food &amp; Beverage</c:v>
                </c:pt>
                <c:pt idx="2">
                  <c:v>Seat/Comfort</c:v>
                </c:pt>
                <c:pt idx="3">
                  <c:v>IFE System</c:v>
                </c:pt>
                <c:pt idx="4">
                  <c:v>Check-in</c:v>
                </c:pt>
                <c:pt idx="5">
                  <c:v>Baggage Delay</c:v>
                </c:pt>
                <c:pt idx="6">
                  <c:v>Staff Behaviour</c:v>
                </c:pt>
                <c:pt idx="7">
                  <c:v>Refund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50</c:v>
                </c:pt>
                <c:pt idx="1">
                  <c:v>60</c:v>
                </c:pt>
                <c:pt idx="2">
                  <c:v>62</c:v>
                </c:pt>
                <c:pt idx="3">
                  <c:v>64</c:v>
                </c:pt>
                <c:pt idx="4">
                  <c:v>65</c:v>
                </c:pt>
                <c:pt idx="5">
                  <c:v>65</c:v>
                </c:pt>
                <c:pt idx="6">
                  <c:v>69</c:v>
                </c:pt>
                <c:pt idx="7">
                  <c:v>71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 b="1"/>
            </a:pPr>
            <a:r>
              <a:t>Complaints per 1,000 passengers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8A8078"/>
            </a:solidFill>
          </c:spPr>
          <c:dPt>
            <c:idx val="0"/>
            <c:spPr>
              <a:solidFill>
                <a:srgbClr val="B03A2E"/>
              </a:solidFill>
            </c:spPr>
          </c:dPt>
          <c:cat>
            <c:strRef>
              <c:f>Sheet1!$A$2:$A$9</c:f>
              <c:strCache>
                <c:ptCount val="8"/>
                <c:pt idx="0">
                  <c:v>DOH-JFK</c:v>
                </c:pt>
                <c:pt idx="1">
                  <c:v>DOH-FRA</c:v>
                </c:pt>
                <c:pt idx="2">
                  <c:v>DOH-DXB</c:v>
                </c:pt>
                <c:pt idx="3">
                  <c:v>DOH-SIN</c:v>
                </c:pt>
                <c:pt idx="4">
                  <c:v>DOH-BKK</c:v>
                </c:pt>
                <c:pt idx="5">
                  <c:v>DOH-LAX</c:v>
                </c:pt>
                <c:pt idx="6">
                  <c:v>DOH-CDG</c:v>
                </c:pt>
                <c:pt idx="7">
                  <c:v>DOH-LHR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1.57</c:v>
                </c:pt>
                <c:pt idx="1">
                  <c:v>1.17</c:v>
                </c:pt>
                <c:pt idx="2">
                  <c:v>1.13</c:v>
                </c:pt>
                <c:pt idx="3">
                  <c:v>0.96</c:v>
                </c:pt>
                <c:pt idx="4">
                  <c:v>0.9</c:v>
                </c:pt>
                <c:pt idx="5">
                  <c:v>0.84</c:v>
                </c:pt>
                <c:pt idx="6">
                  <c:v>0.83</c:v>
                </c:pt>
                <c:pt idx="7">
                  <c:v>0.81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C0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Airline Customer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F5EFE6"/>
                </a:solidFill>
                <a:latin typeface="Calibri"/>
              </a:defRPr>
            </a:pPr>
            <a:r>
              <a:t>Surveys, complaints and passenger data: what drives satisfaction and loyalty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B88A4A"/>
                </a:solidFill>
                <a:latin typeface="Calibri"/>
              </a:defRPr>
            </a:pPr>
            <a:r>
              <a:t>Raisa AK  |  Python · PostgreSQL · Power BI  |  Synthetic practice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C0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B88A4A"/>
                </a:solidFill>
                <a:latin typeface="Calibri"/>
              </a:defRPr>
            </a:pPr>
            <a:r>
              <a:t>HEADLINE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5C0632"/>
                </a:solidFill>
                <a:latin typeface="Calibri"/>
              </a:defRPr>
            </a:pPr>
            <a:r>
              <a:t>Refunds, check-in and Business Class loyalty are the biggest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2B2B2B"/>
                </a:solidFill>
                <a:latin typeface="Calibri"/>
              </a:defRPr>
            </a:pPr>
            <a:r>
              <a:t>• Overall: CSAT 69.8%, NPS +5.1, CES 3.59, FCR 63.0%, 1.00 complaints per 1,000 passengers.</a:t>
            </a:r>
          </a:p>
          <a:p>
            <a:pPr>
              <a:spcAft>
                <a:spcPts val="600"/>
              </a:spcAft>
              <a:defRPr sz="1800" b="0">
                <a:solidFill>
                  <a:srgbClr val="2B2B2B"/>
                </a:solidFill>
                <a:latin typeface="Calibri"/>
              </a:defRPr>
            </a:pPr>
            <a:r>
              <a:t>• Business Class NPS is −6.5, far below First (+27.3) and Economy (+7.7), despite similar CSAT.</a:t>
            </a:r>
          </a:p>
          <a:p>
            <a:pPr>
              <a:spcAft>
                <a:spcPts val="600"/>
              </a:spcAft>
              <a:defRPr sz="1800" b="0">
                <a:solidFill>
                  <a:srgbClr val="2B2B2B"/>
                </a:solidFill>
                <a:latin typeface="Calibri"/>
              </a:defRPr>
            </a:pPr>
            <a:r>
              <a:t>• Refund (63.9%) and Check-in (64.2%) have the lowest CSAT of all issue types.</a:t>
            </a:r>
          </a:p>
          <a:p>
            <a:pPr>
              <a:spcAft>
                <a:spcPts val="600"/>
              </a:spcAft>
              <a:defRPr sz="1800" b="0">
                <a:solidFill>
                  <a:srgbClr val="2B2B2B"/>
                </a:solidFill>
                <a:latin typeface="Calibri"/>
              </a:defRPr>
            </a:pPr>
            <a:r>
              <a:t>• JFK has the most complaints per 1,000 passengers (1.57); CDG has the lowest CSAT (57.4%) and NPS (−5.1).</a:t>
            </a:r>
          </a:p>
          <a:p>
            <a:pPr>
              <a:spcAft>
                <a:spcPts val="600"/>
              </a:spcAft>
              <a:defRPr sz="1800" b="0">
                <a:solidFill>
                  <a:srgbClr val="2B2B2B"/>
                </a:solidFill>
                <a:latin typeface="Calibri"/>
              </a:defRPr>
            </a:pPr>
            <a:r>
              <a:t>• Lounge Access complaints are solved at first contact only 50% of the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C0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B88A4A"/>
                </a:solidFill>
                <a:latin typeface="Calibri"/>
              </a:defRPr>
            </a:pPr>
            <a:r>
              <a:t>DATA &amp;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5C0632"/>
                </a:solidFill>
                <a:latin typeface="Calibri"/>
              </a:defRPr>
            </a:pPr>
            <a:r>
              <a:t>Cleaned 3 tables, logged every fix, built one trusted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B2B2B"/>
                </a:solidFill>
                <a:latin typeface="Calibri"/>
              </a:defRPr>
            </a:pPr>
            <a:r>
              <a:t>Data: 500 surveys, 400 complaint cases, 240 route-cabin-month passenger rows (Jan–Oct 2024).</a:t>
            </a:r>
          </a:p>
          <a:p>
            <a:pPr>
              <a:spcAft>
                <a:spcPts val="600"/>
              </a:spcAft>
              <a:defRPr sz="1500" b="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2B2B2B"/>
                </a:solidFill>
                <a:latin typeface="Calibri"/>
              </a:defRPr>
            </a:pPr>
            <a:r>
              <a:t>Pipeline:</a:t>
            </a:r>
          </a:p>
          <a:p>
            <a:pPr>
              <a:spcAft>
                <a:spcPts val="600"/>
              </a:spcAft>
              <a:defRPr sz="1500" b="0">
                <a:solidFill>
                  <a:srgbClr val="2B2B2B"/>
                </a:solidFill>
                <a:latin typeface="Calibri"/>
              </a:defRPr>
            </a:pPr>
            <a:r>
              <a:t>1. Python (Pandas): clean + data-quality log</a:t>
            </a:r>
          </a:p>
          <a:p>
            <a:pPr>
              <a:spcAft>
                <a:spcPts val="600"/>
              </a:spcAft>
              <a:defRPr sz="1500" b="0">
                <a:solidFill>
                  <a:srgbClr val="2B2B2B"/>
                </a:solidFill>
                <a:latin typeface="Calibri"/>
              </a:defRPr>
            </a:pPr>
            <a:r>
              <a:t>2. PostgreSQL: star schema (Routes dimension, PK/FK) + KPI views</a:t>
            </a:r>
          </a:p>
          <a:p>
            <a:pPr>
              <a:spcAft>
                <a:spcPts val="600"/>
              </a:spcAft>
              <a:defRPr sz="1500" b="0">
                <a:solidFill>
                  <a:srgbClr val="2B2B2B"/>
                </a:solidFill>
                <a:latin typeface="Calibri"/>
              </a:defRPr>
            </a:pPr>
            <a:r>
              <a:t>3. Power BI: Overview, Complaints, Drivers pages</a:t>
            </a:r>
          </a:p>
          <a:p>
            <a:pPr>
              <a:spcAft>
                <a:spcPts val="600"/>
              </a:spcAft>
              <a:defRPr sz="1500" b="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2B2B2B"/>
                </a:solidFill>
                <a:latin typeface="Calibri"/>
              </a:defRPr>
            </a:pPr>
            <a:r>
              <a:t>Cleaning rules: dedupe on record IDs (not customer); invalid values set to null, never guessed; every fix logged.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737360"/>
          <a:ext cx="54864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822960"/>
                <a:gridCol w="1554480"/>
              </a:tblGrid>
              <a:tr h="4800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Issue</a:t>
                      </a:r>
                    </a:p>
                  </a:txBody>
                  <a:tcPr>
                    <a:solidFill>
                      <a:srgbClr val="5C06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Rows</a:t>
                      </a:r>
                    </a:p>
                  </a:txBody>
                  <a:tcPr>
                    <a:solidFill>
                      <a:srgbClr val="5C06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5C0632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B2B2B"/>
                          </a:solidFill>
                        </a:defRPr>
                      </a:pPr>
                      <a:r>
                        <a:t>Duplicate Survey/Case IDs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B2B2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B2B2B"/>
                          </a:solidFill>
                        </a:defRPr>
                      </a:pPr>
                      <a:r>
                        <a:t>Removed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B2B2B"/>
                          </a:solidFill>
                        </a:defRPr>
                      </a:pPr>
                      <a:r>
                        <a:t>Scores outside valid range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B2B2B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B2B2B"/>
                          </a:solidFill>
                        </a:defRPr>
                      </a:pPr>
                      <a:r>
                        <a:t>Set to null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B2B2B"/>
                          </a:solidFill>
                        </a:defRPr>
                      </a:pPr>
                      <a:r>
                        <a:t>Cabin / issue / resolved spellings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B2B2B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B2B2B"/>
                          </a:solidFill>
                        </a:defRPr>
                      </a:pPr>
                      <a:r>
                        <a:t>Standardised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B2B2B"/>
                          </a:solidFill>
                        </a:defRPr>
                      </a:pPr>
                      <a:r>
                        <a:t>Routes with extra spaces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B2B2B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B2B2B"/>
                          </a:solidFill>
                        </a:defRPr>
                      </a:pPr>
                      <a:r>
                        <a:t>Trimmed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B2B2B"/>
                          </a:solidFill>
                        </a:defRPr>
                      </a:pPr>
                      <a:r>
                        <a:t>Contact count 0 or negative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B2B2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B2B2B"/>
                          </a:solidFill>
                        </a:defRPr>
                      </a:pPr>
                      <a:r>
                        <a:t>Set to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B2B2B"/>
                          </a:solidFill>
                        </a:defRPr>
                      </a:pPr>
                      <a:r>
                        <a:t>Negative passengers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B2B2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B2B2B"/>
                          </a:solidFill>
                        </a:defRPr>
                      </a:pPr>
                      <a:r>
                        <a:t>Set to null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B2B2B"/>
                          </a:solidFill>
                        </a:defRPr>
                      </a:pPr>
                      <a:r>
                        <a:t>Passengers blank or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B2B2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B2B2B"/>
                          </a:solidFill>
                        </a:defRPr>
                      </a:pPr>
                      <a:r>
                        <a:t>Kept as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C0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B88A4A"/>
                </a:solidFill>
                <a:latin typeface="Calibri"/>
              </a:defRPr>
            </a:pPr>
            <a:r>
              <a:t>WHAT IS HAPPENING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5C0632"/>
                </a:solidFill>
                <a:latin typeface="Calibri"/>
              </a:defRPr>
            </a:pPr>
            <a:r>
              <a:t>Satisfaction is moderate, loyalty is only just positive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0574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B8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600" b="1">
                <a:solidFill>
                  <a:srgbClr val="5C0632"/>
                </a:solidFill>
                <a:latin typeface="Calibri"/>
              </a:defRPr>
            </a:pPr>
            <a:r>
              <a:t>69.8%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2B2B2B"/>
                </a:solidFill>
                <a:latin typeface="Calibri"/>
              </a:defRPr>
            </a:pPr>
            <a:r>
              <a:t>CSAT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8A8078"/>
                </a:solidFill>
                <a:latin typeface="Calibri"/>
              </a:defRPr>
            </a:pPr>
            <a:r>
              <a:t>scores 4–5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011680"/>
            <a:ext cx="20574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B8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240280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600" b="1">
                <a:solidFill>
                  <a:srgbClr val="5C0632"/>
                </a:solidFill>
                <a:latin typeface="Calibri"/>
              </a:defRPr>
            </a:pPr>
            <a:r>
              <a:t>+5.1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10896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2B2B2B"/>
                </a:solidFill>
                <a:latin typeface="Calibri"/>
              </a:defRPr>
            </a:pPr>
            <a:r>
              <a:t>NPS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5204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8A8078"/>
                </a:solidFill>
                <a:latin typeface="Calibri"/>
              </a:defRPr>
            </a:pPr>
            <a:r>
              <a:t>promoters − detractors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2011680"/>
            <a:ext cx="20574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B8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2240280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600" b="1">
                <a:solidFill>
                  <a:srgbClr val="5C0632"/>
                </a:solidFill>
                <a:latin typeface="Calibri"/>
              </a:defRPr>
            </a:pPr>
            <a:r>
              <a:t>3.59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10896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2B2B2B"/>
                </a:solidFill>
                <a:latin typeface="Calibri"/>
              </a:defRPr>
            </a:pPr>
            <a:r>
              <a:t>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5204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8A8078"/>
                </a:solidFill>
                <a:latin typeface="Calibri"/>
              </a:defRPr>
            </a:pPr>
            <a:r>
              <a:t>1–7, lower is better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2011680"/>
            <a:ext cx="20574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B8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2240280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600" b="1">
                <a:solidFill>
                  <a:srgbClr val="5C0632"/>
                </a:solidFill>
                <a:latin typeface="Calibri"/>
              </a:defRPr>
            </a:pPr>
            <a:r>
              <a:t>63.0%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10896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2B2B2B"/>
                </a:solidFill>
                <a:latin typeface="Calibri"/>
              </a:defRPr>
            </a:pPr>
            <a:r>
              <a:t>FCR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35204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8A8078"/>
                </a:solidFill>
                <a:latin typeface="Calibri"/>
              </a:defRPr>
            </a:pPr>
            <a:r>
              <a:t>solved in 1 contact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2011680"/>
            <a:ext cx="20574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B8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2240280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600" b="1">
                <a:solidFill>
                  <a:srgbClr val="5C0632"/>
                </a:solidFill>
                <a:latin typeface="Calibri"/>
              </a:defRPr>
            </a:pPr>
            <a:r>
              <a:t>1.00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310896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2B2B2B"/>
                </a:solidFill>
                <a:latin typeface="Calibri"/>
              </a:defRPr>
            </a:pPr>
            <a:r>
              <a:t>Complaints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35204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8A8078"/>
                </a:solidFill>
                <a:latin typeface="Calibri"/>
              </a:defRPr>
            </a:pPr>
            <a:r>
              <a:t>per 1,000 pax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663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B2B2B"/>
                </a:solidFill>
                <a:latin typeface="Calibri"/>
              </a:defRPr>
            </a:pPr>
            <a:r>
              <a:t>Roughly 7 in 10 passengers are satisfied, but promoters only slightly outnumber detractors, so satisfaction is not yet turning into loyalty.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C0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B88A4A"/>
                </a:solidFill>
                <a:latin typeface="Calibri"/>
              </a:defRPr>
            </a:pPr>
            <a:r>
              <a:t>WHY: ROUTES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5C0632"/>
                </a:solidFill>
                <a:latin typeface="Calibri"/>
              </a:defRPr>
            </a:pPr>
            <a:r>
              <a:t>CDG and LHR trail on both satisfaction and loyalty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645920"/>
          <a:ext cx="54864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217920" y="1645920"/>
          <a:ext cx="548640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8A8078"/>
                </a:solidFill>
                <a:latin typeface="Calibri"/>
              </a:defRPr>
            </a:pPr>
            <a:r>
              <a:t>DOH-CDG is the weakest route: lowest CSAT (57.4%) and negative NPS (−5.1). LHR and JFK also have more detractors than promoters.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C0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B88A4A"/>
                </a:solidFill>
                <a:latin typeface="Calibri"/>
              </a:defRPr>
            </a:pPr>
            <a:r>
              <a:t>WHY: CABIN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5C0632"/>
                </a:solidFill>
                <a:latin typeface="Calibri"/>
              </a:defRPr>
            </a:pPr>
            <a:r>
              <a:t>Business Class passengers are satisfied but not loyal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645920"/>
          <a:ext cx="658368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98079" y="182880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B2B2B"/>
                </a:solidFill>
                <a:latin typeface="Calibri"/>
              </a:defRPr>
            </a:pPr>
            <a:r>
              <a:t>CSAT is almost the same in every cabin (69–73%).</a:t>
            </a:r>
          </a:p>
          <a:p>
            <a:pPr>
              <a:spcAft>
                <a:spcPts val="600"/>
              </a:spcAft>
              <a:defRPr sz="1500" b="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2B2B2B"/>
                </a:solidFill>
                <a:latin typeface="Calibri"/>
              </a:defRPr>
            </a:pPr>
            <a:r>
              <a:t>But NPS splits sharply: First +27.3, Economy +7.7, Business −6.5.</a:t>
            </a:r>
          </a:p>
          <a:p>
            <a:pPr>
              <a:spcAft>
                <a:spcPts val="600"/>
              </a:spcAft>
              <a:defRPr sz="1500" b="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2B2B2B"/>
                </a:solidFill>
                <a:latin typeface="Calibri"/>
              </a:defRPr>
            </a:pPr>
            <a:r>
              <a:t>Business passengers rate single touchpoints well but would not recommend us. This is a loyalty risk for high-value customers. Next step: read Business comments and compare with competitors.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C0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B88A4A"/>
                </a:solidFill>
                <a:latin typeface="Calibri"/>
              </a:defRPr>
            </a:pPr>
            <a:r>
              <a:t>WHY: TOUCHPOINTS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5C0632"/>
                </a:solidFill>
                <a:latin typeface="Calibri"/>
              </a:defRPr>
            </a:pPr>
            <a:r>
              <a:t>Refunds and check-in hurt satisfaction; lounge cases are hard to resolve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645920"/>
          <a:ext cx="54864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217920" y="1645920"/>
          <a:ext cx="548640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8A8078"/>
                </a:solidFill>
                <a:latin typeface="Calibri"/>
              </a:defRPr>
            </a:pPr>
            <a:r>
              <a:t>Lounge Access has the most complaint cases (60) and the lowest FCR (50%): half need a second contact.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C0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B88A4A"/>
                </a:solidFill>
                <a:latin typeface="Calibri"/>
              </a:defRPr>
            </a:pPr>
            <a:r>
              <a:t>WHY: COMPLAINT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5C0632"/>
                </a:solidFill>
                <a:latin typeface="Calibri"/>
              </a:defRPr>
            </a:pPr>
            <a:r>
              <a:t>JFK generates the most complaints for its passenger volume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645920"/>
          <a:ext cx="658368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98079" y="182880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B2B2B"/>
                </a:solidFill>
                <a:latin typeface="Calibri"/>
              </a:defRPr>
            </a:pPr>
            <a:r>
              <a:t>Raw counts would mislead: routes with more passengers naturally get more complaints.</a:t>
            </a:r>
          </a:p>
          <a:p>
            <a:pPr>
              <a:spcAft>
                <a:spcPts val="600"/>
              </a:spcAft>
              <a:defRPr sz="1500" b="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2B2B2B"/>
                </a:solidFill>
                <a:latin typeface="Calibri"/>
              </a:defRPr>
            </a:pPr>
            <a:r>
              <a:t>Normalised per 1,000 passengers, JFK (1.57) is nearly double LHR (0.81).</a:t>
            </a:r>
          </a:p>
          <a:p>
            <a:pPr>
              <a:spcAft>
                <a:spcPts val="600"/>
              </a:spcAft>
              <a:defRPr sz="1500" b="0">
                <a:solidFill>
                  <a:srgbClr val="2B2B2B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2B2B2B"/>
                </a:solidFill>
                <a:latin typeface="Calibri"/>
              </a:defRPr>
            </a:pPr>
            <a:r>
              <a:t>115 customers raised more than one complaint, a clear service-recovery opportunity.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C0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B88A4A"/>
                </a:solidFill>
                <a:latin typeface="Calibri"/>
              </a:defRPr>
            </a:pPr>
            <a: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5C0632"/>
                </a:solidFill>
                <a:latin typeface="Calibri"/>
              </a:defRPr>
            </a:pPr>
            <a:r>
              <a:t>Three actions, each with a KPI to track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1106424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B8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6479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5C0632"/>
                </a:solidFill>
                <a:latin typeface="Calibri"/>
              </a:defRPr>
            </a:pPr>
            <a:r>
              <a:t>1. Fix the refund and check-in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B2B2B"/>
                </a:solidFill>
                <a:latin typeface="Calibri"/>
              </a:defRPr>
            </a:pPr>
            <a:r>
              <a:t>Simplify refund tracking and set a refund SLA; review check-in queues at weakest stations.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32888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88A4A"/>
                </a:solidFill>
                <a:latin typeface="Calibri"/>
              </a:defRPr>
            </a:pPr>
            <a:r>
              <a:t>Track: CSAT % for Refund and Check-in, avg resolution days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1106424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B8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27355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5C0632"/>
                </a:solidFill>
                <a:latin typeface="Calibri"/>
              </a:defRPr>
            </a:pPr>
            <a:r>
              <a:t>2. Win back Business Class loyalty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576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B2B2B"/>
                </a:solidFill>
                <a:latin typeface="Calibri"/>
              </a:defRPr>
            </a:pPr>
            <a:r>
              <a:t>Deep-dive Business comments on CDG, LHR and JFK; benchmark seat, lounge and service vs competitors.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041648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88A4A"/>
                </a:solidFill>
                <a:latin typeface="Calibri"/>
              </a:defRPr>
            </a:pPr>
            <a:r>
              <a:t>Track: Business NPS by route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709160"/>
            <a:ext cx="1106424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B8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78231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5C0632"/>
                </a:solidFill>
                <a:latin typeface="Calibri"/>
              </a:defRPr>
            </a:pPr>
            <a:r>
              <a:t>3. Resolve lounge cases first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663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B2B2B"/>
                </a:solidFill>
                <a:latin typeface="Calibri"/>
              </a:defRPr>
            </a:pPr>
            <a:r>
              <a:t>Give agents lounge-access rules and authority to resolve on first contact; proactively contact repeat complainers.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550408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88A4A"/>
                </a:solidFill>
                <a:latin typeface="Calibri"/>
              </a:defRPr>
            </a:pPr>
            <a:r>
              <a:t>Track: Lounge FCR %, repeat complainers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C0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B88A4A"/>
                </a:solidFill>
                <a:latin typeface="Calibri"/>
              </a:defRPr>
            </a:pPr>
            <a:r>
              <a:t>NEXT STEPS &amp;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5C0632"/>
                </a:solidFill>
                <a:latin typeface="Calibri"/>
              </a:defRPr>
            </a:pPr>
            <a:r>
              <a:t>What I would do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B2B2B"/>
                </a:solidFill>
                <a:latin typeface="Calibri"/>
              </a:defRPr>
            </a:pPr>
            <a:r>
              <a:t>• Test significance before acting: chi-square for CSAT % gaps, t-test for CES averages. Some route-cabin groups have fewer than 30 responses, so treat those as directional.</a:t>
            </a:r>
          </a:p>
          <a:p>
            <a:pPr>
              <a:spcAft>
                <a:spcPts val="600"/>
              </a:spcAft>
              <a:defRPr sz="1700" b="0">
                <a:solidFill>
                  <a:srgbClr val="2B2B2B"/>
                </a:solidFill>
                <a:latin typeface="Calibri"/>
              </a:defRPr>
            </a:pPr>
            <a:r>
              <a:t>• Add a shared Date table to compare months (MoM) and track the impact of fixes.</a:t>
            </a:r>
          </a:p>
          <a:p>
            <a:pPr>
              <a:spcAft>
                <a:spcPts val="600"/>
              </a:spcAft>
              <a:defRPr sz="1700" b="0">
                <a:solidFill>
                  <a:srgbClr val="2B2B2B"/>
                </a:solidFill>
                <a:latin typeface="Calibri"/>
              </a:defRPr>
            </a:pPr>
            <a:r>
              <a:t>• Analyse open-text comments to explain the Business Class NPS gap.</a:t>
            </a:r>
          </a:p>
          <a:p>
            <a:pPr>
              <a:spcAft>
                <a:spcPts val="600"/>
              </a:spcAft>
              <a:defRPr sz="1700" b="0">
                <a:solidFill>
                  <a:srgbClr val="2B2B2B"/>
                </a:solidFill>
                <a:latin typeface="Calibri"/>
              </a:defRPr>
            </a:pPr>
            <a:r>
              <a:t>• Fix data quality at the source with IT: dropdowns for cabin and issue type, validation on score ranges, required fields, and a data dictionary.</a:t>
            </a:r>
          </a:p>
          <a:p>
            <a:pPr>
              <a:spcAft>
                <a:spcPts val="600"/>
              </a:spcAft>
              <a:defRPr sz="1700" b="0">
                <a:solidFill>
                  <a:srgbClr val="2B2B2B"/>
                </a:solidFill>
                <a:latin typeface="Calibri"/>
              </a:defRPr>
            </a:pPr>
            <a:r>
              <a:t>• Note: synthetic practice dataset; numbers illustrate the method, not real airline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